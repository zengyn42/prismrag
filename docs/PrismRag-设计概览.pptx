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9601200" y="1371600"/>
            <a:ext cx="1280160" cy="914400"/>
          </a:xfrm>
          <a:prstGeom prst="rtTriangle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900000">
            <a:off x="10241280" y="2377440"/>
            <a:ext cx="1280160" cy="914400"/>
          </a:xfrm>
          <a:prstGeom prst="rtTriangle">
            <a:avLst/>
          </a:prstGeom>
          <a:solidFill>
            <a:srgbClr val="F4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800000">
            <a:off x="9784080" y="3474720"/>
            <a:ext cx="1280160" cy="914400"/>
          </a:xfrm>
          <a:prstGeom prst="rtTriangle">
            <a:avLst/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2700000">
            <a:off x="10515600" y="4480560"/>
            <a:ext cx="1280160" cy="914400"/>
          </a:xfrm>
          <a:prstGeom prst="rtTriangle">
            <a:avLst/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5EC5E8"/>
                </a:solidFill>
                <a:latin typeface="Segoe UI"/>
              </a:rPr>
              <a:t>PrismRag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Segoe UI"/>
              </a:rPr>
              <a:t>图优先的 Obsidian Vault RAG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A8BE"/>
                </a:solidFill>
                <a:latin typeface="Segoe UI"/>
              </a:rPr>
              <a:t>v4.0 设计概览 — 5 层索引管线 · 零向量搜索 · 联邦图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EC5E8"/>
                </a:solidFill>
                <a:latin typeface="Segoe UI"/>
              </a:rPr>
              <a:t>Foundation / ZenithLoom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Segoe UI"/>
              </a:rPr>
              <a:t>2026-04-14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Segoe UI"/>
              </a:rPr>
              <a:t>PrismRag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Segoe UI"/>
              </a:rPr>
              <a:t>一句话：把 Obsidian Vault 当图来索引、按图遍历来检索的 RAG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463040"/>
            <a:ext cx="3703320" cy="46634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703320" cy="502920"/>
          </a:xfrm>
          <a:prstGeom prst="roundRect">
            <a:avLst>
              <a:gd name="adj" fmla="val 15000"/>
            </a:avLst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B2D"/>
                </a:solidFill>
                <a:latin typeface="Segoe UI"/>
              </a:rPr>
              <a:t>索引时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2461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读 vault 里的 markdown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抽 wikilinks / tags / frontmatter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调 Gemini Embedding 算相似度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跑 Leiden 发现社区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存一张 NetworkX 图 + 报告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703320" cy="46634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3703320" cy="502920"/>
          </a:xfrm>
          <a:prstGeom prst="roundRect">
            <a:avLst>
              <a:gd name="adj" fmla="val 15000"/>
            </a:avLst>
          </a:prstGeom>
          <a:solidFill>
            <a:srgbClr val="F4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544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B2D"/>
                </a:solidFill>
                <a:latin typeface="Segoe UI"/>
              </a:rPr>
              <a:t>查询时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40280"/>
            <a:ext cx="32461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不做向量搜索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入口节点靠 label / alias / tag 匹配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BFS / DFS 图遍历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按 token 预算硬裁剪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返回邻居子图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3703320" cy="46634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3703320" cy="502920"/>
          </a:xfrm>
          <a:prstGeom prst="roundRect">
            <a:avLst>
              <a:gd name="adj" fmla="val 15000"/>
            </a:avLst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544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B2D"/>
                </a:solidFill>
                <a:latin typeface="Segoe UI"/>
              </a:rPr>
              <a:t>对外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40280"/>
            <a:ext cx="32461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MCP Server 暴露 8 个工具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Agent 可调 search / explain / trace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支持多 vault 联邦（ZenithLoom + EdenGateway）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命令行：ingest / query / 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Segoe UI"/>
              </a:rPr>
              <a:t>PrismRag · 设计概览 · 2026-04-14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Segoe U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Segoe UI"/>
              </a:rPr>
              <a:t>核心决策：流派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Segoe UI"/>
              </a:rPr>
              <a:t>Embedding 只在建索引时用，查询时完全不碰向量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417320"/>
            <a:ext cx="11201400" cy="18288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5EC5E8"/>
                </a:solidFill>
                <a:latin typeface="Segoe UI"/>
              </a:rPr>
              <a:t>三种流派的抉择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87C7"/>
                </a:solidFill>
                <a:latin typeface="Segoe UI"/>
              </a:rPr>
              <a:t>A  传统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向量检索 + 关键词 + RRF 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v3.2 旧路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E0A4"/>
                </a:solidFill>
                <a:latin typeface="Segoe UI"/>
              </a:rPr>
              <a:t>B  流派 B（已选）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Embedding 建边，查询纯图遍历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432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v4.0 当前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9659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B35C"/>
                </a:solidFill>
                <a:latin typeface="Segoe UI"/>
              </a:rPr>
              <a:t>C  全 LLM 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286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LLM 抽三元组建图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7432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成本高、质量飘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5486400" cy="29718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5EC5E8"/>
                </a:solidFill>
                <a:latin typeface="Segoe UI"/>
              </a:rPr>
              <a:t>为什么选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31920"/>
            <a:ext cx="51206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图遍历天然可解释 — 每条边有 source_pass 可追溯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查询零 API 成本 — 没有 query-time embedding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Embedding 只参与一次建边，更新隔离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与 Obsidian 的 [[wikilinks]] 文化同构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可渐进演化，Layer 2 LLM 可后加不破坏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429000"/>
            <a:ext cx="5623560" cy="29718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566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5EC5E8"/>
                </a:solidFill>
                <a:latin typeface="Segoe UI"/>
              </a:rPr>
              <a:t>边的两类来源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977639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E0A4"/>
                </a:solidFill>
                <a:latin typeface="Segoe UI"/>
              </a:rPr>
              <a:t>EXTRACTED （确定性、零 LLM、可信）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9768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从 wikilinks / tags / frontmatter 直接抽出来</a:t>
            </a:r>
          </a:p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source_pass = 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292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B35C"/>
                </a:solidFill>
                <a:latin typeface="Segoe UI"/>
              </a:rPr>
              <a:t>INFERRED  （embedding 相似度推断）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34924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top-K 余弦相似度 + 阈值过滤，与 EXTRACTED 去重</a:t>
            </a:r>
          </a:p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source_pass = 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Segoe UI"/>
              </a:rPr>
              <a:t>PrismRag · 设计概览 · 2026-04-14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Segoe U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Segoe UI"/>
              </a:rPr>
              <a:t>5 层索引管线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Segoe UI"/>
              </a:rPr>
              <a:t>从 Vault 到可查询的知识图，一次 ingest 跑完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60020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Segoe UI"/>
              </a:rPr>
              <a:t>Pass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E8EEF7"/>
                </a:solidFill>
                <a:latin typeface="Segoe UI"/>
              </a:rPr>
              <a:t>AST 抽取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8BE"/>
                </a:solidFill>
                <a:latin typeface="Segoe UI"/>
              </a:rPr>
              <a:t>wikilinks · tags</a:t>
            </a:r>
          </a:p>
          <a:p>
            <a:pPr algn="ctr"/>
            <a:r>
              <a:rPr sz="1100" b="0">
                <a:solidFill>
                  <a:srgbClr val="9AA8BE"/>
                </a:solidFill>
                <a:latin typeface="Segoe UI"/>
              </a:rPr>
              <a:t>frontmatter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BE0A4"/>
                </a:solidFill>
                <a:latin typeface="Segoe UI"/>
              </a:rPr>
              <a:t>零 LLM</a:t>
            </a:r>
          </a:p>
          <a:p>
            <a:pPr algn="ctr"/>
            <a:r>
              <a:rPr sz="1000" b="1">
                <a:solidFill>
                  <a:srgbClr val="8BE0A4"/>
                </a:solidFill>
                <a:latin typeface="Segoe UI"/>
              </a:rPr>
              <a:t>100%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16040" y="2880360"/>
            <a:ext cx="89728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15768" y="160020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15768" y="160020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8" y="16916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Segoe UI"/>
              </a:rPr>
              <a:t>Pass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2402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E8EEF7"/>
                </a:solidFill>
                <a:latin typeface="Segoe UI"/>
              </a:rPr>
              <a:t>媒体抽取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269748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8BE"/>
                </a:solidFill>
                <a:latin typeface="Segoe UI"/>
              </a:rPr>
              <a:t>图片 · PDF</a:t>
            </a:r>
          </a:p>
          <a:p>
            <a:pPr algn="ctr"/>
            <a:r>
              <a:rPr sz="1100" b="0">
                <a:solidFill>
                  <a:srgbClr val="9AA8BE"/>
                </a:solidFill>
                <a:latin typeface="Segoe UI"/>
              </a:rPr>
              <a:t>音频 → 文本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388620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887C7"/>
                </a:solidFill>
                <a:latin typeface="Segoe UI"/>
              </a:rPr>
              <a:t>设计已定</a:t>
            </a:r>
          </a:p>
          <a:p>
            <a:pPr algn="ctr"/>
            <a:r>
              <a:rPr sz="1000" b="1">
                <a:solidFill>
                  <a:srgbClr val="E887C7"/>
                </a:solidFill>
                <a:latin typeface="Segoe UI"/>
              </a:rPr>
              <a:t>未实现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74608" y="2880360"/>
            <a:ext cx="89728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74336" y="160020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74336" y="160020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16916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Segoe UI"/>
              </a:rPr>
              <a:t>Pass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776" y="22402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E8EEF7"/>
                </a:solidFill>
                <a:latin typeface="Segoe UI"/>
              </a:rPr>
              <a:t>Embedding + 相似边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5776" y="269748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8BE"/>
                </a:solidFill>
                <a:latin typeface="Segoe UI"/>
              </a:rPr>
              <a:t>Gemini Embedding 2</a:t>
            </a:r>
          </a:p>
          <a:p>
            <a:pPr algn="ctr"/>
            <a:r>
              <a:rPr sz="1100" b="0">
                <a:solidFill>
                  <a:srgbClr val="9AA8BE"/>
                </a:solidFill>
                <a:latin typeface="Segoe UI"/>
              </a:rPr>
              <a:t>余弦 top-K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5776" y="388620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BE0A4"/>
                </a:solidFill>
                <a:latin typeface="Segoe UI"/>
              </a:rPr>
              <a:t>建边核心</a:t>
            </a:r>
          </a:p>
          <a:p>
            <a:pPr algn="ctr"/>
            <a:r>
              <a:rPr sz="1000" b="1">
                <a:solidFill>
                  <a:srgbClr val="8BE0A4"/>
                </a:solidFill>
                <a:latin typeface="Segoe UI"/>
              </a:rPr>
              <a:t>100%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33176" y="2880360"/>
            <a:ext cx="89728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32904" y="160020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32904" y="160020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904" y="16916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Segoe UI"/>
              </a:rPr>
              <a:t>Pass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4344" y="22402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E8EEF7"/>
                </a:solidFill>
                <a:latin typeface="Segoe UI"/>
              </a:rPr>
              <a:t>Leiden 聚类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4344" y="269748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8BE"/>
                </a:solidFill>
                <a:latin typeface="Segoe UI"/>
              </a:rPr>
              <a:t>纯拓扑社区</a:t>
            </a:r>
          </a:p>
          <a:p>
            <a:pPr algn="ctr"/>
            <a:r>
              <a:rPr sz="1100" b="0">
                <a:solidFill>
                  <a:srgbClr val="9AA8BE"/>
                </a:solidFill>
                <a:latin typeface="Segoe UI"/>
              </a:rPr>
              <a:t>god node 识别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4344" y="388620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BE0A4"/>
                </a:solidFill>
                <a:latin typeface="Segoe UI"/>
              </a:rPr>
              <a:t>100%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391744" y="2880360"/>
            <a:ext cx="89728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91472" y="1600200"/>
            <a:ext cx="2148840" cy="29260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91472" y="160020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2" y="16916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Segoe UI"/>
              </a:rPr>
              <a:t>Pass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22402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E8EEF7"/>
                </a:solidFill>
                <a:latin typeface="Segoe UI"/>
              </a:rPr>
              <a:t>持久化 + 报告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2912" y="269748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8BE"/>
                </a:solidFill>
                <a:latin typeface="Segoe UI"/>
              </a:rPr>
              <a:t>graph.json</a:t>
            </a:r>
          </a:p>
          <a:p>
            <a:pPr algn="ctr"/>
            <a:r>
              <a:rPr sz="1100" b="0">
                <a:solidFill>
                  <a:srgbClr val="9AA8BE"/>
                </a:solidFill>
                <a:latin typeface="Segoe UI"/>
              </a:rPr>
              <a:t>REPORT.md · HTML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2912" y="388620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BE0A4"/>
                </a:solidFill>
                <a:latin typeface="Segoe UI"/>
              </a:rPr>
              <a:t>100%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846320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5EC5E8"/>
                </a:solidFill>
                <a:latin typeface="Segoe UI"/>
              </a:rPr>
              <a:t>当前完成度：4 / 5 层完整（~80%）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349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Pass 1 / 3 / 4 / 5 已端到端跑通，test_e2e_full 15 个测试全绿，data/ 目录已有 383KB 的 graph.json 产物。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唯一缺口是 Pass 2：媒体抽取设计完整但零行代码，NodeKind 枚举里的 image/pdf/audio 还在等生产者。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Segoe UI"/>
              </a:rPr>
              <a:t>PrismRag · 设计概览 · 2026-04-14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Segoe UI"/>
              </a:rPr>
              <a:t>数据模型：节点与边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Segoe UI"/>
              </a:rPr>
              <a:t>K-atom 三元组 (Nm, Am, Rm) 的工程化映射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5577840" cy="48006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EC5E8"/>
                </a:solidFill>
                <a:latin typeface="Segoe UI"/>
              </a:rPr>
              <a:t>Node（节点）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Segoe UI"/>
              </a:rPr>
              <a:t>id /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Nm — 名称与显示标签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kind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70632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结构类型：note / tag / category /</a:t>
            </a:r>
          </a:p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image / pdf / audio / section /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00984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source_file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9584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来源 markdown 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31336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content / content_hash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59936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正文 + 哈希（增量检测用）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61688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90288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token 计数（预算裁剪用）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9204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frontmatter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YAML frontmatter 原样保留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2239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community_id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50992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Leiden 聚类归属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52744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B35C"/>
                </a:solidFill>
                <a:latin typeface="Segoe UI"/>
              </a:rPr>
              <a:t>maturity · confidence · actionability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81344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Am — 上游 Agent 填的元属性</a:t>
            </a:r>
          </a:p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(seed/growing/mature · high/med/low · ref/decision/task)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417320"/>
            <a:ext cx="5577840" cy="48006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EC5E8"/>
                </a:solidFill>
                <a:latin typeface="Segoe UI"/>
              </a:rPr>
              <a:t>Edge（边） — Rm 关系维度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01168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source →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240280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有向边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54203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relation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770632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关系名：links_to / tagged_with /</a:t>
            </a:r>
          </a:p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in_category / semantically_similar_to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00984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Segoe UI"/>
              </a:rPr>
              <a:t>confidence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529584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EXTRACTED / INFERRED / AMBIGUOUS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831336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confidence_score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059936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0.0 – 1.0（相似度或人工分）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361688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weight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590288"/>
            <a:ext cx="5074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图算法用的权重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9204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B35C"/>
                </a:solidFill>
                <a:latin typeface="Segoe UI"/>
              </a:rPr>
              <a:t>source_pass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120640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ast / media / embedding / llm</a:t>
            </a:r>
          </a:p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（边是哪一层产生的）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7150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7C7"/>
                </a:solidFill>
                <a:latin typeface="Segoe UI"/>
              </a:rPr>
              <a:t>⚠  ontology_type（concept / entity / tool / …）尚未落地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Segoe UI"/>
              </a:rPr>
              <a:t>PrismRag · 设计概览 · 2026-04-14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Segoe UI"/>
              </a:rPr>
              <a:t>查询侧：零向量的图遍历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Segoe UI"/>
              </a:rPr>
              <a:t>入口解析 → BFS/DFS → Token 预算 → 子图返回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60020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Segoe UI"/>
              </a:rPr>
              <a:t>1  入口解析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entry.py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query 文本 →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label · alias · tag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多路精确匹配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→ 候选入口节点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64680" y="2788920"/>
            <a:ext cx="144592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19272" y="160020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78308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B35C"/>
                </a:solidFill>
                <a:latin typeface="Segoe UI"/>
              </a:rPr>
              <a:t>2  遍历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1945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bfs.py · dfs.py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560320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从入口出发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双向邻居扩展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BFS 广度 / DFS 深度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带 relation 权重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26752" y="2788920"/>
            <a:ext cx="144592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4" y="160020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78308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E0A4"/>
                </a:solidFill>
                <a:latin typeface="Segoe UI"/>
              </a:rPr>
              <a:t>3  裁剪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1945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token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560320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累加 Node.tokens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超预算即停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首节点保护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避免空结果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88824" y="2788920"/>
            <a:ext cx="144592" cy="274320"/>
          </a:xfrm>
          <a:prstGeom prst="rightArrow">
            <a:avLst/>
          </a:prstGeom>
          <a:solidFill>
            <a:srgbClr val="32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43416" y="160020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178308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87C7"/>
                </a:solidFill>
                <a:latin typeface="Segoe UI"/>
              </a:rPr>
              <a:t>4  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1945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MCP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560320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子图节点集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带 community_id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带 confidence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原文 + 路径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11292840" cy="16002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C5E8"/>
                </a:solidFill>
                <a:latin typeface="Segoe UI"/>
              </a:rPr>
              <a:t>为什么这样设计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查询端零 API 成本 — 没有 embedding 调用，响应只受本地图遍历制约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结果可解释 — 每个返回节点都能沿 relation 边追溯回入口，不是 "向量近邻黑盒"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Token 预算硬上限 — LLM 上下文可控，不会因为图太大而爆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Segoe UI"/>
              </a:rPr>
              <a:t>PrismRag · 设计概览 · 2026-04-14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Segoe U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Segoe UI"/>
              </a:rPr>
              <a:t>MCP Server：对外暴露的 8 个工具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Segoe UI"/>
              </a:rPr>
              <a:t>Agent 通过 MCP 协议调用，覆盖检索 · 解释 · 追踪 · 读写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508760"/>
            <a:ext cx="5486400" cy="566928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709928"/>
            <a:ext cx="164592" cy="164592"/>
          </a:xfrm>
          <a:prstGeom prst="ellipse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C5E8"/>
                </a:solidFill>
                <a:latin typeface="Consolas"/>
              </a:rPr>
              <a:t>search_knowledge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105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Segoe UI"/>
              </a:rPr>
              <a:t>query → 入口解析 + BFS 遍历 → 相关子图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486400" cy="566928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709928"/>
            <a:ext cx="164592" cy="164592"/>
          </a:xfrm>
          <a:prstGeom prst="ellipse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5819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C5E8"/>
                </a:solidFill>
                <a:latin typeface="Consolas"/>
              </a:rPr>
              <a:t>explain_node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8105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Segoe UI"/>
              </a:rPr>
              <a:t>给定 node_id，返回内容 + 邻居 + 所属社区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58568"/>
            <a:ext cx="5486400" cy="566928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459736"/>
            <a:ext cx="164592" cy="164592"/>
          </a:xfrm>
          <a:prstGeom prst="ellipse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3317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C5E8"/>
                </a:solidFill>
                <a:latin typeface="Consolas"/>
              </a:rPr>
              <a:t>trace_path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Segoe UI"/>
              </a:rPr>
              <a:t>两节点之间的最短路径 / 关系链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258568"/>
            <a:ext cx="5486400" cy="566928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459736"/>
            <a:ext cx="164592" cy="164592"/>
          </a:xfrm>
          <a:prstGeom prst="ellipse">
            <a:avLst/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3317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E0A4"/>
                </a:solidFill>
                <a:latin typeface="Consolas"/>
              </a:rPr>
              <a:t>list_communities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560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Segoe UI"/>
              </a:rPr>
              <a:t>列出所有 Leiden 社区 + 代表节点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08376"/>
            <a:ext cx="5486400" cy="566928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209544"/>
            <a:ext cx="164592" cy="164592"/>
          </a:xfrm>
          <a:prstGeom prst="ellipse">
            <a:avLst/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0815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E0A4"/>
                </a:solidFill>
                <a:latin typeface="Consolas"/>
              </a:rPr>
              <a:t>explore_community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3101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Segoe UI"/>
              </a:rPr>
              <a:t>深入某个社区：成员 + 内部密度 + god node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008376"/>
            <a:ext cx="5486400" cy="566928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3209544"/>
            <a:ext cx="164592" cy="164592"/>
          </a:xfrm>
          <a:prstGeom prst="ellipse">
            <a:avLst/>
          </a:prstGeom>
          <a:solidFill>
            <a:srgbClr val="F4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30815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B35C"/>
                </a:solidFill>
                <a:latin typeface="Consolas"/>
              </a:rPr>
              <a:t>list_namespaces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3101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Segoe UI"/>
              </a:rPr>
              <a:t>联邦图场景下列出所有 vault 命名空间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58184"/>
            <a:ext cx="5486400" cy="566928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" y="3959352"/>
            <a:ext cx="164592" cy="164592"/>
          </a:xfrm>
          <a:prstGeom prst="ellipse">
            <a:avLst/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8313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87C7"/>
                </a:solidFill>
                <a:latin typeface="Consolas"/>
              </a:rPr>
              <a:t>read_note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05993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Segoe UI"/>
              </a:rPr>
              <a:t>按路径读 vault 原始 markdown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758184"/>
            <a:ext cx="5486400" cy="566928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3959352"/>
            <a:ext cx="164592" cy="164592"/>
          </a:xfrm>
          <a:prstGeom prst="ellipse">
            <a:avLst/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38313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87C7"/>
                </a:solidFill>
                <a:latin typeface="Consolas"/>
              </a:rPr>
              <a:t>write_note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05993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EEF7"/>
                </a:solidFill>
                <a:latin typeface="Segoe UI"/>
              </a:rPr>
              <a:t>写回 vault（🟨 CAS + audit log 待完善）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349240"/>
            <a:ext cx="11292840" cy="1005840"/>
          </a:xfrm>
          <a:prstGeom prst="roundRect">
            <a:avLst>
              <a:gd name="adj" fmla="val 6000"/>
            </a:avLst>
          </a:prstGeom>
          <a:solidFill>
            <a:srgbClr val="3A2A1E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46811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B35C"/>
                </a:solidFill>
                <a:latin typeface="Segoe UI"/>
              </a:rPr>
              <a:t>⚠  阻塞点：prism-rag serve 启动入口缺失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8 个 tool 的实现都已就位，但 stdio / SSE transport 的启动脚本还没写 — Agent 现在调不到。这是 P1 必做项。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Segoe UI"/>
              </a:rPr>
              <a:t>PrismRag · 设计概览 · 2026-04-14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Segoe UI"/>
              </a:rPr>
              <a:t>联邦图：多个 Vault 一张图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Segoe UI"/>
              </a:rPr>
              <a:t>每个 vault 独立 ingest，运行时桥接成统一视图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417320"/>
            <a:ext cx="5029200" cy="4846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5EC5E8"/>
                </a:solidFill>
                <a:latin typeface="Segoe UI"/>
              </a:rPr>
              <a:t>设计思路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每个 vault 独立 ingest，产出独立的 graph.json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/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运行时 FederatedGraph 加载多份并加 namespace 前缀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/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跨图同名节点 / 同 wikilink 自动建 "桥接边"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/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查询可指定 namespace 过滤或跨图遍历</a:t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/>
            </a:r>
          </a:p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•  单图更新不影响其他图 — 索引是独立的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417320"/>
            <a:ext cx="6080760" cy="4846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5544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5EC5E8"/>
                </a:solidFill>
                <a:latin typeface="Segoe UI"/>
              </a:rPr>
              <a:t>典型部署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103120"/>
            <a:ext cx="2834640" cy="685800"/>
          </a:xfrm>
          <a:prstGeom prst="roundRect">
            <a:avLst>
              <a:gd name="adj" fmla="val 15000"/>
            </a:avLst>
          </a:prstGeom>
          <a:solidFill>
            <a:srgbClr val="0F1B2D"/>
          </a:solidFill>
          <a:ln w="19050">
            <a:solidFill>
              <a:srgbClr val="5E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C5E8"/>
                </a:solidFill>
                <a:latin typeface="Segoe UI"/>
              </a:rPr>
              <a:t>ZenithLoom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688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设计 · 决策 · 架构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017520"/>
            <a:ext cx="2834640" cy="685800"/>
          </a:xfrm>
          <a:prstGeom prst="roundRect">
            <a:avLst>
              <a:gd name="adj" fmla="val 15000"/>
            </a:avLst>
          </a:prstGeom>
          <a:solidFill>
            <a:srgbClr val="0F1B2D"/>
          </a:solidFill>
          <a:ln w="19050">
            <a:solidFill>
              <a:srgbClr val="F4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108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B35C"/>
                </a:solidFill>
                <a:latin typeface="Segoe UI"/>
              </a:rPr>
              <a:t>EdenGateway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383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运行数据 · 会话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931920"/>
            <a:ext cx="2834640" cy="685800"/>
          </a:xfrm>
          <a:prstGeom prst="roundRect">
            <a:avLst>
              <a:gd name="adj" fmla="val 15000"/>
            </a:avLst>
          </a:prstGeom>
          <a:solidFill>
            <a:srgbClr val="0F1B2D"/>
          </a:solidFill>
          <a:ln w="19050">
            <a:solidFill>
              <a:srgbClr val="8BE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4023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E0A4"/>
                </a:solidFill>
                <a:latin typeface="Segoe UI"/>
              </a:rPr>
              <a:t>Resource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97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Segoe UI"/>
              </a:rPr>
              <a:t>外部知识 · 论文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017520"/>
            <a:ext cx="2468880" cy="685800"/>
          </a:xfrm>
          <a:prstGeom prst="roundRect">
            <a:avLst>
              <a:gd name="adj" fmla="val 15000"/>
            </a:avLst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31089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Segoe UI"/>
              </a:rPr>
              <a:t>FederatedGraph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383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B2D"/>
                </a:solidFill>
                <a:latin typeface="Segoe UI"/>
              </a:rPr>
              <a:t>统一查询视图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3960" y="2423160"/>
            <a:ext cx="320040" cy="960120"/>
          </a:xfrm>
          <a:prstGeom prst="line">
            <a:avLst/>
          </a:prstGeom>
          <a:ln w="15240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23960" y="3337560"/>
            <a:ext cx="320040" cy="45720"/>
          </a:xfrm>
          <a:prstGeom prst="line">
            <a:avLst/>
          </a:prstGeom>
          <a:ln w="15240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823960" y="3383280"/>
            <a:ext cx="320040" cy="868680"/>
          </a:xfrm>
          <a:prstGeom prst="line">
            <a:avLst/>
          </a:prstGeom>
          <a:ln w="15240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52160" y="493776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实现位置：store/federated.py (265 行)</a:t>
            </a:r>
          </a:p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测试覆盖：test_federated.py (28 个用例) + test_e2e_full.py 多图场景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Segoe UI"/>
              </a:rPr>
              <a:t>PrismRag · 设计概览 · 2026-04-14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Segoe UI"/>
              </a:rPr>
              <a:t>模块分布与代码量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Segoe UI"/>
              </a:rPr>
              <a:t>总 ~3.5k 行主代码 + ~1.4k 行测试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50876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Segoe UI"/>
              </a:rPr>
              <a:t>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600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Segoe UI"/>
              </a:rPr>
              <a:t>职责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6002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Segoe UI"/>
              </a:rPr>
              <a:t>行数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6002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Segoe UI"/>
              </a:rPr>
              <a:t>状态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ingest/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0574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AST · Embedding · 相似边 · 增量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0574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~400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0574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🟢 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store/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4688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KnowledgeGraph · Embedding 缓存 · 联邦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468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~540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4688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🟢 90%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8892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retrieve/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880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入口解析 · BFS · DFS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8803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~460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8803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🟢 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291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cluster/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2918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Leiden 社区 · god node · 密度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291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154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2918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🟢 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1188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703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report/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37033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GRAPH_REPORT.md · pyvis 可视化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~340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7033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🟢 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114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vault_ops/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4114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CAS · 路径沙箱 · audit 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114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~480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1148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🟡 60%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43484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526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mcp_server/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45262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8 个 MCP tools + transport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4526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637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45262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🟡 85%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937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config.py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49377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GraphSource · 联邦设置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4937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107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49377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🟢 100%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25780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349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E0A4"/>
                </a:solidFill>
                <a:latin typeface="Consolas"/>
              </a:rPr>
              <a:t>cli.py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06040" y="5349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ingest / query / info / serve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5349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E"/>
                </a:solidFill>
                <a:latin typeface="Consolas"/>
              </a:rPr>
              <a:t>251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53492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EF7"/>
                </a:solidFill>
                <a:latin typeface="Segoe UI"/>
              </a:rPr>
              <a:t>🟡 90%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Consolas"/>
              </a:rPr>
              <a:t>59 个测试分 4 个文件：phase1_mvp (16) · embedding_store (4) · federated (28) · e2e_full (15)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Segoe UI"/>
              </a:rPr>
              <a:t>PrismRag · 设计概览 · 2026-04-14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Segoe UI"/>
              </a:rPr>
              <a:t>与知识元概念的对齐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Segoe UI"/>
              </a:rPr>
              <a:t>K-atom (Nm, Am, Rm) 在 PrismRag 里落地到哪一步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508760"/>
            <a:ext cx="11292840" cy="4114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Segoe UI"/>
              </a:rPr>
              <a:t>K-atom 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Segoe UI"/>
              </a:rPr>
              <a:t>PrismRag 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60020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C5E8"/>
                </a:solidFill>
                <a:latin typeface="Segoe UI"/>
              </a:rPr>
              <a:t>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11292840" cy="45720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756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Nm 名称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0756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Node.id + Node.label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0756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E0A4"/>
                </a:solidFill>
                <a:latin typeface="Segoe UI"/>
              </a:rPr>
              <a:t>✅ 完整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328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Rm 关系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5328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Edge + confidence + source_pass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5328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E0A4"/>
                </a:solidFill>
                <a:latin typeface="Segoe UI"/>
              </a:rPr>
              <a:t>✅ 完整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80360"/>
            <a:ext cx="11292840" cy="45720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9900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Am 属性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9900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maturity / confidence / actionability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9900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35C"/>
                </a:solidFill>
                <a:latin typeface="Segoe UI"/>
              </a:rPr>
              <a:t>🟨 Schema 就位，上游 Agent 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4472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ontology_type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4472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concept / entity / tool / process 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4472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C7"/>
                </a:solidFill>
                <a:latin typeface="Segoe UI"/>
              </a:rPr>
              <a:t>❌ 缺失 — 当前只有结构类型 (note/tag/…)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94760"/>
            <a:ext cx="11292840" cy="45720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044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Layer 1 抽取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9044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wikilinks + tags + frontmatter → 确定性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9044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E0A4"/>
                </a:solidFill>
                <a:latin typeface="Segoe UI"/>
              </a:rPr>
              <a:t>✅ 完整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3616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Layer 2 LLM 抽取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3616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Claude Haiku 辅助分类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3616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C7"/>
                </a:solidFill>
                <a:latin typeface="Segoe UI"/>
              </a:rPr>
              <a:t>❌ 未实现（也不计划早做）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709160"/>
            <a:ext cx="11292840" cy="45720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8188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Aliases 合并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48188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frontmatter aliases → 同一节点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8188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35C"/>
                </a:solidFill>
                <a:latin typeface="Segoe UI"/>
              </a:rPr>
              <a:t>🟨 读到了，真正的折叠行为待验证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2760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EEF7"/>
                </a:solidFill>
                <a:latin typeface="Segoe UI"/>
              </a:rPr>
              <a:t>Feature Flags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2760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E"/>
                </a:solidFill>
                <a:latin typeface="Consolas"/>
              </a:rPr>
              <a:t>[features] 按旗控制扩展功能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2760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87C7"/>
                </a:solidFill>
                <a:latin typeface="Segoe UI"/>
              </a:rPr>
              <a:t>❌ 未建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Segoe UI"/>
              </a:rPr>
              <a:t>PrismRag · 设计概览 · 2026-04-14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Segoe UI"/>
              </a:rPr>
              <a:t>剩余任务与优先级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Segoe UI"/>
              </a:rPr>
              <a:t>按 P1 → P4 排序，P1 是让 PrismRag 真正可用的关键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50876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Segoe UI"/>
              </a:rPr>
              <a:t>P1  阻塞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prism-rag serve 启动入口（stdio / SSE transport）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Pass 2 媒体抽取（至少 PDF 最小版）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4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60020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Segoe UI"/>
              </a:rPr>
              <a:t>P2  正确性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tiktoken 精确 token 计数（替换 len()//4）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Aliases → Node 真合并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ontology_type 字段 + frontmatter 映射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vault_ops 写入路径：CAS + audit + 原子性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6908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06908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Segoe UI"/>
              </a:rPr>
              <a:t>P3  对齐与扩展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6344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Am 属性默认策略（frontmatter → maturity）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适配 ZenithLoom knowledge_id 粒度（依赖 Vault Phase 2）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source_pass=media / llm 边类型激活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06908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406908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16052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B2D"/>
                </a:solidFill>
                <a:latin typeface="Segoe UI"/>
              </a:rPr>
              <a:t>P4  质量与可观测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CLI 集成测试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Dangling wikilinks 报告工具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Feature Flags 基础设施</a:t>
            </a:r>
          </a:p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•  嵌入模型迁移 / 重算流程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Segoe UI"/>
              </a:rPr>
              <a:t>PrismRag · 设计概览 · 2026-04-14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EF7"/>
                </a:solidFill>
                <a:latin typeface="Segoe UI"/>
              </a:rPr>
              <a:t>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E"/>
                </a:solidFill>
                <a:latin typeface="Segoe UI"/>
              </a:rPr>
              <a:t>PrismRag 当前状态与关键洞察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9525">
            <a:solidFill>
              <a:srgbClr val="32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554480"/>
            <a:ext cx="11292840" cy="868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09728" cy="868680"/>
          </a:xfrm>
          <a:prstGeom prst="rect">
            <a:avLst/>
          </a:prstGeom>
          <a:solidFill>
            <a:srgbClr val="8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7335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E0A4"/>
                </a:solidFill>
                <a:latin typeface="Segoe UI"/>
              </a:rPr>
              <a:t>已经到位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5 层管线里 4 层跑通（~80%），图可构建、可查询、可可视化，MCP 工具集完备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96312"/>
            <a:ext cx="11292840" cy="868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96312"/>
            <a:ext cx="109728" cy="868680"/>
          </a:xfrm>
          <a:prstGeom prst="rect">
            <a:avLst/>
          </a:prstGeom>
          <a:solidFill>
            <a:srgbClr val="5E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1518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EC5E8"/>
                </a:solidFill>
                <a:latin typeface="Segoe UI"/>
              </a:rPr>
              <a:t>流派 B 的坚持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3522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Embedding 只在 index-time 建边，查询纯图遍历 — 可解释性和查询零成本是核心回报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38144"/>
            <a:ext cx="11292840" cy="868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38144"/>
            <a:ext cx="109728" cy="868680"/>
          </a:xfrm>
          <a:prstGeom prst="rect">
            <a:avLst/>
          </a:prstGeom>
          <a:solidFill>
            <a:srgbClr val="F4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57016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B35C"/>
                </a:solidFill>
                <a:latin typeface="Segoe UI"/>
              </a:rPr>
              <a:t>下一个里程碑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6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补 serve 启动 + Pass 2，PrismRag 就能真正被 Agent 调用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79976"/>
            <a:ext cx="11292840" cy="868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379976"/>
            <a:ext cx="109728" cy="868680"/>
          </a:xfrm>
          <a:prstGeom prst="rect">
            <a:avLst/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9884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87C7"/>
                </a:solidFill>
                <a:latin typeface="Segoe UI"/>
              </a:rPr>
              <a:t>与 ZenithLoom 的耦合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1888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PrismRag 现在按文件粒度建图；若 Vault 进入 Phase 2（knowledge_id）再切粒度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21808"/>
            <a:ext cx="11292840" cy="868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 w="9525">
            <a:solidFill>
              <a:srgbClr val="32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21808"/>
            <a:ext cx="109728" cy="868680"/>
          </a:xfrm>
          <a:prstGeom prst="rect">
            <a:avLst/>
          </a:prstGeom>
          <a:solidFill>
            <a:srgbClr val="E88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87C7"/>
                </a:solidFill>
                <a:latin typeface="Segoe UI"/>
              </a:rPr>
              <a:t>不要做的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Segoe UI"/>
              </a:rPr>
              <a:t>Layer 2 LLM 抽取、过早加复杂的 ontology 推断 — 违背 v4.0 流派 B 的简洁性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E"/>
                </a:solidFill>
                <a:latin typeface="Segoe UI"/>
              </a:rPr>
              <a:t>PrismRag · 设计概览 · 2026-04-14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E"/>
                </a:solidFill>
                <a:latin typeface="Segoe U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